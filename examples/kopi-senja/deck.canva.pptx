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660197"/>
            <a:ext cx="10591800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10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KOPI SENJA × STUDIO RANTAI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3743325"/>
            <a:ext cx="247650" cy="19050"/>
          </a:xfrm>
          <a:prstGeom prst="rect">
            <a:avLst/>
          </a:prstGeom>
          <a:effectLst/>
          <a:solidFill>
            <a:srgbClr val="DDB66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633826"/>
            <a:ext cx="2559397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CAMPAIGN PROPOSAL ·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917442"/>
            <a:ext cx="10591800" cy="175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</a:pPr>
            <a:r>
              <a:rPr sz="6900" b="1" i="0" spc="-207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Stay for the Golden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077206"/>
            <a:ext cx="8366671" cy="885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A 6-week narrative campaign that turns Kopi Senja's 4–7pm slump into the city's favourite after-work ritual.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957926"/>
            <a:ext cx="1058019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spc="98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9119" y="5957926"/>
            <a:ext cx="2027783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spc="98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PREPARED FOR KOPI SENJA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7902" y="5957926"/>
            <a:ext cx="273308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spc="98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NARRATIVE-FIRST CREATIVE STUDIO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872853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ABOUT STUDIO RANTAI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5334000" cy="1200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Ideas before price lists. We build narratives.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991106"/>
            <a:ext cx="8366671" cy="885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A narrative-first creative studio in Jakarta. We start from an insight, name the idea, then put creators, content and events behind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895600"/>
            <a:ext cx="2519362" cy="1362075"/>
          </a:xfrm>
          <a:prstGeom prst="roundRect">
            <a:avLst>
              <a:gd name="adj" fmla="val 111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289321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" y="424576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7719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7556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8225" y="3113608"/>
            <a:ext cx="204311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IN THIS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331235"/>
            <a:ext cx="2043112" cy="403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Influencer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618357"/>
            <a:ext cx="2043112" cy="557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The right creators, briefed and supervised end to 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0912" y="2895600"/>
            <a:ext cx="2519362" cy="1362075"/>
          </a:xfrm>
          <a:prstGeom prst="roundRect">
            <a:avLst>
              <a:gd name="adj" fmla="val 111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0912" y="289321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912" y="424576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8531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8369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9038" y="3113608"/>
            <a:ext cx="204311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IN THIS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9038" y="3331235"/>
            <a:ext cx="2043112" cy="403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Creative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038" y="3618357"/>
            <a:ext cx="2043112" cy="557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Direction and always-on social that converts.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725" y="2895600"/>
            <a:ext cx="2519362" cy="1362075"/>
          </a:xfrm>
          <a:prstGeom prst="roundRect">
            <a:avLst>
              <a:gd name="adj" fmla="val 111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725" y="289321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725" y="424576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9344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9181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850" y="3113608"/>
            <a:ext cx="204311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IN THIS CAMPAIGN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3331235"/>
            <a:ext cx="2043112" cy="403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Content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850" y="3618357"/>
            <a:ext cx="2043112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Full crew, from concept to final cut.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72538" y="2895600"/>
            <a:ext cx="2519362" cy="1362075"/>
          </a:xfrm>
          <a:prstGeom prst="roundRect">
            <a:avLst>
              <a:gd name="adj" fmla="val 111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72538" y="289321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72538" y="4245769"/>
            <a:ext cx="2519362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0156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379994" y="2895600"/>
            <a:ext cx="14288" cy="13620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0662" y="3113608"/>
            <a:ext cx="204311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IN THIS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0662" y="3331235"/>
            <a:ext cx="2043112" cy="403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Events &amp; Activations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0662" y="3618357"/>
            <a:ext cx="2043112" cy="557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Experiences that put the brand in the room.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" y="5493544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" y="6160294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719" y="5495925"/>
            <a:ext cx="14288" cy="6762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79994" y="5495925"/>
            <a:ext cx="14288" cy="6762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40906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075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CAMPAIGN VIEWS (SAMPLE)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075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2.1M+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4094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24262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BRAND PROJECTS (SAMPLE)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24262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27281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7450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CREATOR NETWORK (SAMPLE)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7450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25 demo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0638" y="5610987"/>
            <a:ext cx="230028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AVG. VS TARGET (SAMPLE)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0638" y="5795772"/>
            <a:ext cx="2300288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1.6x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2363242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UNDERSTANDING KOPI SENJA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6400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Busy at 8am. Empty by 5pm.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705356"/>
            <a:ext cx="5181600" cy="147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Kopi Senja (fictional) runs 12 neighbourhood outlets. Mornings are a commuter rush; the afternoon is quiet even though the brand is literally named after dusk. The name is an unused asset.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300" y="1819275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7950" y="1719453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Morning traffic is price-driven and loyal to whoever is closest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2121694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7950" y="2021872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Afternoons compete with malls, gyms and the commute 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2424112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950" y="2324290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The name 'senja' (dusk) already carries a feeling people post about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726531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7950" y="2626709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Goal: make 4–7pm a reason to visit, not a gap to fill with discounts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DDB66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62026"/>
            <a:ext cx="1186458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016181"/>
            <a:ext cx="10591800" cy="156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173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 spc="-189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Golden Hour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069681"/>
            <a:ext cx="10591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180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THE BEST PART OF THE DAY STARTS WHEN WORK 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468969"/>
            <a:ext cx="8645575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We reposition Kopi Senja from a commuter pit-stop to the city's after-work ritual. Every outlet becomes a 'golden hour' spot: warm light, a dusk-only menu, and creators who make 5pm the moment you look forward 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4592538"/>
            <a:ext cx="28575" cy="523875"/>
          </a:xfrm>
          <a:prstGeom prst="rect">
            <a:avLst/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175" y="4712020"/>
            <a:ext cx="1018222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“Clock out, glow up — see you at Senja.”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28453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THE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We build narratives — here is the arc </a:t>
            </a:r>
            <a:r>
              <a:rPr sz="1500" b="1" i="0" spc="-6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 · 6 weeks, 4 beats</a:t>
            </a:r>
          </a:p>
        </p:txBody>
      </p:sp>
      <p:sp>
        <p:nvSpPr>
          <p:cNvPr id="6" name="Oval 5"/>
          <p:cNvSpPr/>
          <p:nvPr/>
        </p:nvSpPr>
        <p:spPr>
          <a:xfrm>
            <a:off x="800100" y="1809750"/>
            <a:ext cx="133350" cy="133350"/>
          </a:xfrm>
          <a:prstGeom prst="ellipse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3450" y="1866900"/>
            <a:ext cx="342900" cy="190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058924"/>
            <a:ext cx="243840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378888"/>
            <a:ext cx="2438400" cy="7733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Creators post their 'unplanned 5pm' — sunsets, commutes, the itch to stop somewhere.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064941"/>
            <a:ext cx="24384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82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THAT'S ME.</a:t>
            </a:r>
          </a:p>
        </p:txBody>
      </p:sp>
      <p:sp>
        <p:nvSpPr>
          <p:cNvPr id="11" name="Oval 10"/>
          <p:cNvSpPr/>
          <p:nvPr/>
        </p:nvSpPr>
        <p:spPr>
          <a:xfrm>
            <a:off x="3448050" y="1809750"/>
            <a:ext cx="133350" cy="133350"/>
          </a:xfrm>
          <a:prstGeom prst="ellipse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1400" y="1866900"/>
            <a:ext cx="342900" cy="190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8050" y="2058924"/>
            <a:ext cx="243840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Reveal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50" y="2378888"/>
            <a:ext cx="2438400" cy="7733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Golden Hour Club launches: dusk-only menu, warm-light corners, a stamp card that only works after 4pm.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8050" y="3064941"/>
            <a:ext cx="24384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82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WAIT, WHERE IS THAT?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0" y="1809750"/>
            <a:ext cx="133350" cy="133350"/>
          </a:xfrm>
          <a:prstGeom prst="ellipse">
            <a:avLst/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9350" y="1866900"/>
            <a:ext cx="342900" cy="190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0" y="2058924"/>
            <a:ext cx="243840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Ritual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2378888"/>
            <a:ext cx="2438400" cy="5800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Weekly creator meet-ups and 'clock-out' playlists turn visits into a habit.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871614"/>
            <a:ext cx="24384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82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THIS IS MY SPOT.</a:t>
            </a:r>
          </a:p>
        </p:txBody>
      </p:sp>
      <p:sp>
        <p:nvSpPr>
          <p:cNvPr id="21" name="Oval 20"/>
          <p:cNvSpPr/>
          <p:nvPr/>
        </p:nvSpPr>
        <p:spPr>
          <a:xfrm>
            <a:off x="8743950" y="1809750"/>
            <a:ext cx="133350" cy="133350"/>
          </a:xfrm>
          <a:prstGeom prst="ellipse">
            <a:avLst/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3950" y="2058924"/>
            <a:ext cx="243840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Belong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3950" y="2378888"/>
            <a:ext cx="2438400" cy="7733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Regulars' stories become the content; the best ones get their own drink named after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3950" y="3064941"/>
            <a:ext cx="24384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82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I'M PART OF THIS.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578769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HOW WE TACKLE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Strategic approach </a:t>
            </a:r>
            <a:r>
              <a:rPr sz="1500" b="1" i="0" spc="-6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 · Tease → Launch → Sustain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771650"/>
            <a:ext cx="3390900" cy="1624012"/>
          </a:xfrm>
          <a:prstGeom prst="roundRect">
            <a:avLst>
              <a:gd name="adj" fmla="val 9384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76926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3383756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719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9094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225" y="1986001"/>
            <a:ext cx="291465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163699"/>
            <a:ext cx="29146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Own a time slot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480310"/>
            <a:ext cx="2914650" cy="6429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Every asset says 4–7pm. We sell a moment, not a menu.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1771650"/>
            <a:ext cx="3390900" cy="1624012"/>
          </a:xfrm>
          <a:prstGeom prst="roundRect">
            <a:avLst>
              <a:gd name="adj" fmla="val 9384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0550" y="176926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0550" y="3383756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169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9544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8675" y="1986001"/>
            <a:ext cx="291465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675" y="2163699"/>
            <a:ext cx="29146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Creators as regulars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8675" y="2480310"/>
            <a:ext cx="291465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Micro creators who live near outlets post repeatedly, not once — repetition builds the ritual.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771650"/>
            <a:ext cx="3390900" cy="1624012"/>
          </a:xfrm>
          <a:prstGeom prst="roundRect">
            <a:avLst>
              <a:gd name="adj" fmla="val 9384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176926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3383756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8619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79994" y="1771650"/>
            <a:ext cx="14288" cy="1624012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9125" y="1986001"/>
            <a:ext cx="291465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9125" y="2163699"/>
            <a:ext cx="29146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Make it physical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9125" y="2480310"/>
            <a:ext cx="291465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Light, playlist and stamp card make the idea visible in-store, so content and reality match.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578769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CONTENT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The first two weeks, day by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1962150"/>
            <a:ext cx="10591800" cy="1905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1734312"/>
            <a:ext cx="883146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8996" y="1734312"/>
            <a:ext cx="1040011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9507" y="1734312"/>
            <a:ext cx="1128117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8124" y="1734312"/>
            <a:ext cx="4853732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2356" y="1734312"/>
            <a:ext cx="1734294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CTA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2297906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2032711"/>
            <a:ext cx="883146" cy="320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Day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8996" y="2037283"/>
            <a:ext cx="1040011" cy="2924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507" y="2037283"/>
            <a:ext cx="1128117" cy="2924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POV REEL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124" y="2032711"/>
            <a:ext cx="4853732" cy="320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'My 5pm vs. my 5pm at Senja' — 3 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2356" y="2032711"/>
            <a:ext cx="1734294" cy="320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Follow for the reveal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" y="2621756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" y="2361324"/>
            <a:ext cx="883146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8996" y="2365896"/>
            <a:ext cx="1040011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9507" y="2365896"/>
            <a:ext cx="1128117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CAROUSEL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8124" y="2361324"/>
            <a:ext cx="4853732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Golden Hour Club announcement + dusk menu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2356" y="2361324"/>
            <a:ext cx="1734294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Save the 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" y="2945606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50" y="2685174"/>
            <a:ext cx="883146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Day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8996" y="2689746"/>
            <a:ext cx="1040011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IG + TIKTOK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9507" y="2689746"/>
            <a:ext cx="1128117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LIVE / 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8124" y="2685174"/>
            <a:ext cx="4853732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Launch night at the flagship outlet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2356" y="2685174"/>
            <a:ext cx="1734294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RSVP via link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" y="3269456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350" y="3009024"/>
            <a:ext cx="883146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Day 6–10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8996" y="3013596"/>
            <a:ext cx="1040011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TIKTOK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99507" y="3013596"/>
            <a:ext cx="1128117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UGC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8124" y="3009024"/>
            <a:ext cx="4853732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Creators' clock-out routines ending at their nearest outlet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2356" y="3009024"/>
            <a:ext cx="1734294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Stamp card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" y="3593306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350" y="3332874"/>
            <a:ext cx="883146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Day 11–14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8996" y="3337446"/>
            <a:ext cx="1040011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9507" y="3337446"/>
            <a:ext cx="1128117" cy="287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STORY SERIES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8124" y="3332874"/>
            <a:ext cx="4853732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Regulars of the week + playlist drop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2356" y="3332874"/>
            <a:ext cx="1734294" cy="316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Tag your 5pm crew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216708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CONTENT, MADE CONCRETE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Example posts — ready to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695450"/>
            <a:ext cx="3416201" cy="4244280"/>
          </a:xfrm>
          <a:prstGeom prst="roundRect">
            <a:avLst>
              <a:gd name="adj" fmla="val 4461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693069"/>
            <a:ext cx="3416201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5927824"/>
            <a:ext cx="3416201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719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4395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925" y="1809750"/>
            <a:ext cx="266700" cy="266700"/>
          </a:xfrm>
          <a:prstGeom prst="ellipse">
            <a:avLst/>
          </a:prstGeom>
          <a:effectLst/>
          <a:solidFill>
            <a:srgbClr val="D9822B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710" y="1843126"/>
            <a:ext cx="94655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50" y="1788203"/>
            <a:ext cx="1096714" cy="282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50" y="1941981"/>
            <a:ext cx="1096714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Sponsored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2411" y="1864728"/>
            <a:ext cx="760065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 spc="47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TIKTOK · REEL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181225"/>
            <a:ext cx="3397151" cy="27146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2025" y="3331369"/>
            <a:ext cx="3092351" cy="535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Laptop closes. Cut to golden light on an iced aren latte.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954143"/>
            <a:ext cx="13558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807" y="4954143"/>
            <a:ext cx="180975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9082" y="4954143"/>
            <a:ext cx="13305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3087" y="4954143"/>
            <a:ext cx="109389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5241722"/>
            <a:ext cx="3168551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  <a:r>
              <a:rPr sz="90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 jam 5 tepat. laptop tutup, senja dimulai ☀️ #GoldenHourClub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5635692"/>
            <a:ext cx="316855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→ FIND YOUR NEAREST SENJA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7751" y="1695450"/>
            <a:ext cx="3416350" cy="4244280"/>
          </a:xfrm>
          <a:prstGeom prst="roundRect">
            <a:avLst>
              <a:gd name="adj" fmla="val 446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7751" y="1693069"/>
            <a:ext cx="341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751" y="5927824"/>
            <a:ext cx="341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5370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2194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11576" y="1809750"/>
            <a:ext cx="266700" cy="266700"/>
          </a:xfrm>
          <a:prstGeom prst="ellipse">
            <a:avLst/>
          </a:prstGeom>
          <a:effectLst/>
          <a:solidFill>
            <a:srgbClr val="D9822B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2361" y="1843126"/>
            <a:ext cx="94655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001" y="1788203"/>
            <a:ext cx="1096714" cy="282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001" y="1941981"/>
            <a:ext cx="1096714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Sponsored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0210" y="1864728"/>
            <a:ext cx="760065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 spc="47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IG · CAROUSEL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276" y="2181225"/>
            <a:ext cx="3397300" cy="27146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49676" y="3331369"/>
            <a:ext cx="3092500" cy="535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The dusk-only menu, one drink per slide, shot at sunset.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1576" y="4954143"/>
            <a:ext cx="13558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1458" y="4954143"/>
            <a:ext cx="180975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6733" y="4954143"/>
            <a:ext cx="13305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0887" y="4954143"/>
            <a:ext cx="109389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1576" y="5241722"/>
            <a:ext cx="31687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  <a:r>
              <a:rPr sz="90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 Four drinks you can only order after 4pm. Which one is yours?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1576" y="5635692"/>
            <a:ext cx="316870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→ SAVE FOR AFTER 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5550" y="1695450"/>
            <a:ext cx="3416201" cy="4244280"/>
          </a:xfrm>
          <a:prstGeom prst="roundRect">
            <a:avLst>
              <a:gd name="adj" fmla="val 4461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75550" y="1693069"/>
            <a:ext cx="3416201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75550" y="5927824"/>
            <a:ext cx="3416201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73169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79845" y="1695450"/>
            <a:ext cx="14288" cy="424428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99375" y="1809750"/>
            <a:ext cx="266700" cy="266700"/>
          </a:xfrm>
          <a:prstGeom prst="ellipse">
            <a:avLst/>
          </a:prstGeom>
          <a:effectLst/>
          <a:solidFill>
            <a:srgbClr val="D9822B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0161" y="1843126"/>
            <a:ext cx="94655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1800" y="1788203"/>
            <a:ext cx="1096714" cy="282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1800" y="1941981"/>
            <a:ext cx="1096714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Sponsored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83180" y="1864728"/>
            <a:ext cx="584746" cy="226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 spc="47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IG · STORY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075" y="2181225"/>
            <a:ext cx="3397151" cy="27146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137475" y="3331369"/>
            <a:ext cx="3092351" cy="535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Stamp card: 5 golden-hour visits = a drink named after you.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9375" y="4954143"/>
            <a:ext cx="13558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9258" y="4954143"/>
            <a:ext cx="180975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4533" y="4954143"/>
            <a:ext cx="13305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</a:rPr>
              <a:t>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8538" y="4954143"/>
            <a:ext cx="109389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9375" y="5241722"/>
            <a:ext cx="3168551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@kopisenja.demo</a:t>
            </a:r>
            <a:r>
              <a:rPr sz="90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 Your name could be on our menu. Start stamping today.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9375" y="5635692"/>
            <a:ext cx="316855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8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→ SWIPE FOR THE RULES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67684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SERVICE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What we put to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733550"/>
            <a:ext cx="5181600" cy="2080171"/>
          </a:xfrm>
          <a:prstGeom prst="roundRect">
            <a:avLst>
              <a:gd name="adj" fmla="val 73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731169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3801814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719" y="1733550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69794" y="1733550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225" y="1951558"/>
            <a:ext cx="4705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163699"/>
            <a:ext cx="47053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Influencer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480310"/>
            <a:ext cx="470535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Neighbourhood creators as regulars.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8225" y="2871788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5875" y="2774175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Creator shortlist + briefing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8225" y="3160365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5875" y="3062753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3 posting waves over 6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8225" y="3448943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5875" y="3351331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Weekly performance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1733550"/>
            <a:ext cx="5181600" cy="2080171"/>
          </a:xfrm>
          <a:prstGeom prst="roundRect">
            <a:avLst>
              <a:gd name="adj" fmla="val 73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300" y="1731169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300" y="3801814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7919" y="1733550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79994" y="1733550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8425" y="1951558"/>
            <a:ext cx="4705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2163699"/>
            <a:ext cx="47053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Creative Strategy &amp; 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2480310"/>
            <a:ext cx="470535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One idea across every channel.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8425" y="2871788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6075" y="2774175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Campaign identity + copy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8425" y="3160365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6075" y="3062753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Always-on IG/TikTok for 6 weeks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8425" y="3448943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6075" y="3351331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Community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4042321"/>
            <a:ext cx="5181600" cy="2080171"/>
          </a:xfrm>
          <a:prstGeom prst="roundRect">
            <a:avLst>
              <a:gd name="adj" fmla="val 73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" y="4039939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" y="6110585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719" y="4042321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69794" y="4042321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8225" y="4260329"/>
            <a:ext cx="4705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225" y="4472470"/>
            <a:ext cx="47053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Content 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225" y="4789081"/>
            <a:ext cx="470535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Golden-hour shoots at 3 outlets.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8225" y="5180558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5875" y="5082946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1 shoot day per outlet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8225" y="5469136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5875" y="5371524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12 short-form edits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8225" y="5757714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5875" y="5660101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Menu photography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0300" y="4042321"/>
            <a:ext cx="5181600" cy="2080171"/>
          </a:xfrm>
          <a:prstGeom prst="roundRect">
            <a:avLst>
              <a:gd name="adj" fmla="val 73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0300" y="4039939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0300" y="6110585"/>
            <a:ext cx="51816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07919" y="4042321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379994" y="4042321"/>
            <a:ext cx="14288" cy="208017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8425" y="4260329"/>
            <a:ext cx="4705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8425" y="4472470"/>
            <a:ext cx="4705350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Events &amp; Activations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8425" y="4789081"/>
            <a:ext cx="470535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Launch night + weekly meet-ups.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8425" y="5180558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6075" y="5082946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Flagship launch night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48425" y="5469136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96075" y="5371524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4 creator meet-ups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8425" y="5757714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96075" y="5660101"/>
            <a:ext cx="4457700" cy="386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In-store light + playlist kit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28453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PROPOSED KOLS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Creators who already live the 5pm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695450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693069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3218855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719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7194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2500" y="1847850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205" y="1939862"/>
            <a:ext cx="277416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1897039"/>
            <a:ext cx="1049387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Rara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2081591"/>
            <a:ext cx="1049387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@demo.creator01</a:t>
            </a:r>
          </a:p>
        </p:txBody>
      </p:sp>
      <p:sp>
        <p:nvSpPr>
          <p:cNvPr id="15" name="Oval 14"/>
          <p:cNvSpPr/>
          <p:nvPr/>
        </p:nvSpPr>
        <p:spPr>
          <a:xfrm>
            <a:off x="3633936" y="1985962"/>
            <a:ext cx="442764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9661" y="2005775"/>
            <a:ext cx="27131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NANO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2424151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~4K reach/post (est.)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2620213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Coffee diaries, posts from cafés near two outlets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2905844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Roster · vetted (sample)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500" y="1695450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1500" y="1693069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1500" y="3218855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9119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8594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33900" y="1847850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5195" y="1939862"/>
            <a:ext cx="262235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FD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2550" y="1897039"/>
            <a:ext cx="1049387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Fajar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2550" y="2081591"/>
            <a:ext cx="1049387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@demo.creator12</a:t>
            </a:r>
          </a:p>
        </p:txBody>
      </p:sp>
      <p:sp>
        <p:nvSpPr>
          <p:cNvPr id="29" name="Oval 28"/>
          <p:cNvSpPr/>
          <p:nvPr/>
        </p:nvSpPr>
        <p:spPr>
          <a:xfrm>
            <a:off x="7147471" y="1985962"/>
            <a:ext cx="510629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3196" y="2005775"/>
            <a:ext cx="33917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MIKRO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3900" y="2424151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~20K reach/post (est.)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3900" y="2620213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Commute + work-from-café vlogs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2905844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Roster · vetted (sample)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62900" y="1695450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62900" y="1693069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62900" y="3218855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60519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79994" y="1695450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15300" y="1847850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0642" y="1939862"/>
            <a:ext cx="273993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PD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3950" y="1897039"/>
            <a:ext cx="1049387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Putri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3950" y="2081591"/>
            <a:ext cx="1049387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@demo.creator09</a:t>
            </a:r>
          </a:p>
        </p:txBody>
      </p:sp>
      <p:sp>
        <p:nvSpPr>
          <p:cNvPr id="43" name="Oval 42"/>
          <p:cNvSpPr/>
          <p:nvPr/>
        </p:nvSpPr>
        <p:spPr>
          <a:xfrm>
            <a:off x="10728871" y="1985962"/>
            <a:ext cx="510629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14596" y="2005775"/>
            <a:ext cx="33917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MIKRO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5300" y="2424151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~20K reach/post (est.)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5300" y="2620213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Aesthetic coffee + sunset photography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300" y="2905844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Roster · vetted (sample)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" y="3383161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0100" y="3380780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0100" y="4906566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7719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17194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2500" y="3535561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7991" y="3627572"/>
            <a:ext cx="273695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SD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81150" y="3584750"/>
            <a:ext cx="1049387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Salsa Demo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81150" y="3769302"/>
            <a:ext cx="1049387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@demo.creator21</a:t>
            </a:r>
          </a:p>
        </p:txBody>
      </p:sp>
      <p:sp>
        <p:nvSpPr>
          <p:cNvPr id="57" name="Oval 56"/>
          <p:cNvSpPr/>
          <p:nvPr/>
        </p:nvSpPr>
        <p:spPr>
          <a:xfrm>
            <a:off x="3566071" y="3673673"/>
            <a:ext cx="510629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1796" y="3693485"/>
            <a:ext cx="33917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MIKRO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500" y="4111862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~20K reach/post (est.)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2500" y="4307924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After-work hangout content with friends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500" y="4593555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Roster · vetted (sample)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81500" y="3383161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1500" y="3380780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1500" y="4906566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79119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8594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33900" y="3535561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47605" y="3627572"/>
            <a:ext cx="277416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2550" y="3584750"/>
            <a:ext cx="1104602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Rangga Demo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2550" y="3769302"/>
            <a:ext cx="1104602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@demo.creator20</a:t>
            </a:r>
          </a:p>
        </p:txBody>
      </p:sp>
      <p:sp>
        <p:nvSpPr>
          <p:cNvPr id="71" name="Oval 70"/>
          <p:cNvSpPr/>
          <p:nvPr/>
        </p:nvSpPr>
        <p:spPr>
          <a:xfrm>
            <a:off x="7147471" y="3673673"/>
            <a:ext cx="510629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33196" y="3693485"/>
            <a:ext cx="33917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MAKRO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33900" y="4111862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~120K reach/post (est.)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33900" y="4307924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Food-culture anchor for launch week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33900" y="4593555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Roster · rate to confirm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62900" y="3383161"/>
            <a:ext cx="3429000" cy="1535311"/>
          </a:xfrm>
          <a:prstGeom prst="roundRect">
            <a:avLst>
              <a:gd name="adj" fmla="val 9926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62900" y="3380780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962900" y="4906566"/>
            <a:ext cx="34290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60519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379994" y="3383161"/>
            <a:ext cx="14288" cy="1535311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15300" y="3535561"/>
            <a:ext cx="495300" cy="495300"/>
          </a:xfrm>
          <a:prstGeom prst="ellipse">
            <a:avLst/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1861" y="3627572"/>
            <a:ext cx="291703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43950" y="3584750"/>
            <a:ext cx="909489" cy="356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Nova Demo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43950" y="3769302"/>
            <a:ext cx="909489" cy="2990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@demo.fresh01</a:t>
            </a:r>
          </a:p>
        </p:txBody>
      </p:sp>
      <p:sp>
        <p:nvSpPr>
          <p:cNvPr id="85" name="Oval 84"/>
          <p:cNvSpPr/>
          <p:nvPr/>
        </p:nvSpPr>
        <p:spPr>
          <a:xfrm>
            <a:off x="10728871" y="3673673"/>
            <a:ext cx="510629" cy="219075"/>
          </a:xfrm>
          <a:prstGeom prst="ellipse">
            <a:avLst/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14596" y="3693485"/>
            <a:ext cx="33917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75">
                <a:solidFill>
                  <a:srgbClr val="AD7E30"/>
                </a:solidFill>
                <a:latin typeface="Space Mono"/>
                <a:ea typeface="Space Mono"/>
                <a:cs typeface="Space Mono"/>
              </a:rPr>
              <a:t>MIKRO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15300" y="4111862"/>
            <a:ext cx="3124200" cy="300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23B37"/>
                </a:solidFill>
                <a:latin typeface="Plus Jakarta Sans"/>
                <a:ea typeface="Plus Jakarta Sans"/>
                <a:cs typeface="Plus Jakarta Sans"/>
              </a:rPr>
              <a:t>Reach </a:t>
            </a:r>
            <a:r>
              <a:rPr sz="98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~15K reach/post (est.)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5300" y="4307924"/>
            <a:ext cx="3124200" cy="34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Fresh face: sunset-chasing city walks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15300" y="4593555"/>
            <a:ext cx="312420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✓ Web-sourced · to vet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0100" y="5493544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" y="6160294"/>
            <a:ext cx="105918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7719" y="5495925"/>
            <a:ext cx="14288" cy="6762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379994" y="5495925"/>
            <a:ext cx="14288" cy="67627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440906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1075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PLATFORMS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1075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IG + TikTok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4094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24262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CREATORS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24262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27281" y="5505450"/>
            <a:ext cx="14288" cy="657225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67450" y="5610987"/>
            <a:ext cx="2290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TIERS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7450" y="5795772"/>
            <a:ext cx="229076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Nano → Makro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0638" y="5610987"/>
            <a:ext cx="230028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90">
                <a:solidFill>
                  <a:srgbClr val="C99A45"/>
                </a:solidFill>
                <a:latin typeface="Space Mono"/>
                <a:ea typeface="Space Mono"/>
                <a:cs typeface="Space Mono"/>
              </a:rPr>
              <a:t>AUDIENCE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10638" y="5795772"/>
            <a:ext cx="2300288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Office workers 22–34</a:t>
            </a:r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DDB66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62026"/>
            <a:ext cx="128453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CAMPAIGN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Sample proof: F&amp;B campaigns that beat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1752600"/>
            <a:ext cx="3390900" cy="1695450"/>
          </a:xfrm>
          <a:prstGeom prst="roundRect">
            <a:avLst>
              <a:gd name="adj" fmla="val 89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175021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" y="3436144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7719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9094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1923364"/>
            <a:ext cx="2990850" cy="3829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Sample Brand C (fictional)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177034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176K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551633"/>
            <a:ext cx="29908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goal 80K views</a:t>
            </a:r>
          </a:p>
        </p:txBody>
      </p:sp>
      <p:sp>
        <p:nvSpPr>
          <p:cNvPr id="15" name="Oval 14"/>
          <p:cNvSpPr/>
          <p:nvPr/>
        </p:nvSpPr>
        <p:spPr>
          <a:xfrm>
            <a:off x="1000125" y="2800350"/>
            <a:ext cx="1050131" cy="209550"/>
          </a:xfrm>
          <a:prstGeom prst="ellipse">
            <a:avLst/>
          </a:prstGeom>
          <a:effectLst/>
          <a:solidFill>
            <a:srgbClr val="D6F4E1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6325" y="2808808"/>
            <a:ext cx="897731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2.2x of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086862"/>
            <a:ext cx="299085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4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FROM 4 KOLS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0550" y="1752600"/>
            <a:ext cx="3390900" cy="1695450"/>
          </a:xfrm>
          <a:prstGeom prst="roundRect">
            <a:avLst>
              <a:gd name="adj" fmla="val 89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0550" y="175021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0550" y="3436144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98169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9544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0575" y="1923364"/>
            <a:ext cx="2990850" cy="3829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Sample Brand A (fictional)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575" y="2177034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512K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0575" y="2551633"/>
            <a:ext cx="29908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goal 300K views</a:t>
            </a:r>
          </a:p>
        </p:txBody>
      </p:sp>
      <p:sp>
        <p:nvSpPr>
          <p:cNvPr id="26" name="Oval 25"/>
          <p:cNvSpPr/>
          <p:nvPr/>
        </p:nvSpPr>
        <p:spPr>
          <a:xfrm>
            <a:off x="4600575" y="2800350"/>
            <a:ext cx="1050131" cy="209550"/>
          </a:xfrm>
          <a:prstGeom prst="ellipse">
            <a:avLst/>
          </a:prstGeom>
          <a:effectLst/>
          <a:solidFill>
            <a:srgbClr val="D6F4E1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6775" y="2808808"/>
            <a:ext cx="897731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1.7x of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575" y="3086862"/>
            <a:ext cx="299085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4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FROM 8 KOLS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1752600"/>
            <a:ext cx="3390900" cy="1695450"/>
          </a:xfrm>
          <a:prstGeom prst="roundRect">
            <a:avLst>
              <a:gd name="adj" fmla="val 8988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1750219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3436144"/>
            <a:ext cx="339090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8619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79994" y="1752600"/>
            <a:ext cx="14288" cy="1695450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1025" y="1923364"/>
            <a:ext cx="2990850" cy="3829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Sample Brand B (fictional)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1025" y="2177034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204K 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1025" y="2551633"/>
            <a:ext cx="29908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goal 150K views</a:t>
            </a:r>
          </a:p>
        </p:txBody>
      </p:sp>
      <p:sp>
        <p:nvSpPr>
          <p:cNvPr id="37" name="Oval 36"/>
          <p:cNvSpPr/>
          <p:nvPr/>
        </p:nvSpPr>
        <p:spPr>
          <a:xfrm>
            <a:off x="8201025" y="2800350"/>
            <a:ext cx="1050131" cy="209550"/>
          </a:xfrm>
          <a:prstGeom prst="ellipse">
            <a:avLst/>
          </a:prstGeom>
          <a:effectLst/>
          <a:solidFill>
            <a:srgbClr val="D6F4E1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7225" y="2808808"/>
            <a:ext cx="897731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8A957"/>
                </a:solidFill>
                <a:latin typeface="Space Mono"/>
                <a:ea typeface="Space Mono"/>
                <a:cs typeface="Space Mono"/>
              </a:rPr>
              <a:t>1.4x of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1025" y="3086862"/>
            <a:ext cx="299085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4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FROM 5 KOLS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1676846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KPI &amp;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Concrete targets, honest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675333"/>
            <a:ext cx="5086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PLANNING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23264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010918"/>
            <a:ext cx="1798439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7139" y="2010918"/>
            <a:ext cx="2983111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6 (5 roster + 1 to vet)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27455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2425256"/>
            <a:ext cx="1798439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139" y="2425256"/>
            <a:ext cx="2983111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18 across 3 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31646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300" y="2844356"/>
            <a:ext cx="1798439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Reach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139" y="2844356"/>
            <a:ext cx="2983111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tier bands (est.)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550" y="1675333"/>
            <a:ext cx="5086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LAUNCH-SEASON TARGETS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5550" y="23264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750" y="2010918"/>
            <a:ext cx="2597795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Campaign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945" y="2010918"/>
            <a:ext cx="2183755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600K views (target)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5550" y="27455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750" y="2425256"/>
            <a:ext cx="259779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Est. unique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1945" y="2425256"/>
            <a:ext cx="218375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~250K people (est.)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5550" y="31646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1750" y="2844356"/>
            <a:ext cx="259779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4–7pm transactions uplift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1945" y="2844356"/>
            <a:ext cx="218375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+25% (target)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5550" y="35837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1750" y="3263456"/>
            <a:ext cx="259779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Stamp-card sign-ups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1945" y="3263456"/>
            <a:ext cx="218375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3K members (target)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723132"/>
            <a:ext cx="8520112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Targets are projections benchmarked against the sample F&amp;B wins; estimates come from tier reach bands. All numbers in this example are fictional.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990302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21842"/>
            <a:ext cx="10591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6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The investment (sample pricing)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20978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1782318"/>
            <a:ext cx="3069580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Creator fees — 4 roster creators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8280" y="1782318"/>
            <a:ext cx="1711970" cy="3476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Rp 8.500.000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25169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2196656"/>
            <a:ext cx="306958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Makro anchor creator (rate to confirm)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8280" y="2196656"/>
            <a:ext cx="171197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Rp 12.000.000 </a:t>
            </a:r>
            <a:r>
              <a:rPr sz="900" b="1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29360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2615756"/>
            <a:ext cx="306958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Content production (3 shoot 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8280" y="2615756"/>
            <a:ext cx="171197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Rp 18.000.000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33551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" y="3034856"/>
            <a:ext cx="306958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Creative strategy &amp; social (6 weeks)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8280" y="3034856"/>
            <a:ext cx="171197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Rp 15.000.000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" y="37742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3453956"/>
            <a:ext cx="306958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Launch night + meet-ups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8280" y="3453956"/>
            <a:ext cx="171197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Rp 10.000.000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" y="4193381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" y="3873056"/>
            <a:ext cx="306958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Agency fee (12%)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8280" y="3873056"/>
            <a:ext cx="171197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Rp 7.620.000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" y="4617244"/>
            <a:ext cx="5086350" cy="14288"/>
          </a:xfrm>
          <a:prstGeom prst="rect">
            <a:avLst/>
          </a:prstGeom>
          <a:effectLst/>
          <a:solidFill>
            <a:srgbClr val="E4E8E6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300" y="4292156"/>
            <a:ext cx="3069580" cy="3571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Tax (sample 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8280" y="4292156"/>
            <a:ext cx="1711970" cy="3571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Rp 1.422.400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" y="4629150"/>
            <a:ext cx="5086350" cy="1905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4764024"/>
            <a:ext cx="30695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Total 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8280" y="4764024"/>
            <a:ext cx="171197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5240"/>
                </a:solidFill>
                <a:latin typeface="Plus Jakarta Sans"/>
                <a:ea typeface="Plus Jakarta Sans"/>
                <a:cs typeface="Plus Jakarta Sans"/>
              </a:rPr>
              <a:t>Rp 72.542.400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1675333"/>
            <a:ext cx="5086350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116">
                <a:solidFill>
                  <a:srgbClr val="1F5240"/>
                </a:solidFill>
                <a:latin typeface="Space Mono"/>
                <a:ea typeface="Space Mono"/>
                <a:cs typeface="Space Mono"/>
              </a:rPr>
              <a:t>PAYMENT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5550" y="2019300"/>
            <a:ext cx="2505075" cy="657225"/>
          </a:xfrm>
          <a:prstGeom prst="roundRect">
            <a:avLst>
              <a:gd name="adj" fmla="val 11594"/>
            </a:avLst>
          </a:prstGeom>
          <a:effectLst/>
          <a:solidFill>
            <a:srgbClr val="EFF6F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900" y="2089709"/>
            <a:ext cx="2238375" cy="560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900" y="2401062"/>
            <a:ext cx="223837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7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KICK-OFF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8725" y="2019300"/>
            <a:ext cx="1503015" cy="657225"/>
          </a:xfrm>
          <a:prstGeom prst="roundRect">
            <a:avLst>
              <a:gd name="adj" fmla="val 11594"/>
            </a:avLst>
          </a:prstGeom>
          <a:effectLst/>
          <a:solidFill>
            <a:srgbClr val="DDEBE3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2075" y="2089709"/>
            <a:ext cx="1236315" cy="560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075" y="2401062"/>
            <a:ext cx="123631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7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MID-CAMPAIGN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89840" y="2019300"/>
            <a:ext cx="1002060" cy="657225"/>
          </a:xfrm>
          <a:prstGeom prst="roundRect">
            <a:avLst>
              <a:gd name="adj" fmla="val 11594"/>
            </a:avLst>
          </a:prstGeom>
          <a:effectLst/>
          <a:solidFill>
            <a:srgbClr val="FCF7E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23190" y="2089709"/>
            <a:ext cx="735360" cy="560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432F"/>
                </a:solidFill>
                <a:latin typeface="Plus Jakarta Sans"/>
                <a:ea typeface="Plus Jakarta Sans"/>
                <a:cs typeface="Plus Jakarta Sans"/>
              </a:rPr>
              <a:t>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3190" y="2401062"/>
            <a:ext cx="73536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75">
                <a:solidFill>
                  <a:srgbClr val="6B7571"/>
                </a:solidFill>
                <a:latin typeface="Space Mono"/>
                <a:ea typeface="Space Mono"/>
                <a:cs typeface="Space Mono"/>
              </a:rPr>
              <a:t>FINAL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5550" y="2818257"/>
            <a:ext cx="5086350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571"/>
                </a:solidFill>
                <a:latin typeface="Plus Jakarta Sans"/>
                <a:ea typeface="Plus Jakarta Sans"/>
                <a:cs typeface="Plus Jakarta Sans"/>
              </a:rPr>
              <a:t>Sample pricing for a fictional brand. Final quote after creator availability check.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9AA39F"/>
                </a:solidFill>
                <a:latin typeface="Space Mono"/>
                <a:ea typeface="Space Mono"/>
                <a:cs typeface="Space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1F5240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DDB66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62026"/>
            <a:ext cx="990302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WHY RANTAI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002640"/>
            <a:ext cx="7627590" cy="15600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spc="-78">
                <a:solidFill>
                  <a:srgbClr val="0E1512"/>
                </a:solidFill>
                <a:latin typeface="Plus Jakarta Sans"/>
                <a:ea typeface="Plus Jakarta Sans"/>
                <a:cs typeface="Plus Jakarta Sans"/>
              </a:rPr>
              <a:t>Ideas before price lists. We build narratives.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5453101"/>
            <a:ext cx="339090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01 · Insight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709285"/>
            <a:ext cx="3390900" cy="6429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FFFFF">
                    <a:alpha val="85000"/>
                  </a:srgbClr>
                </a:solidFill>
                <a:latin typeface="Plus Jakarta Sans"/>
                <a:ea typeface="Plus Jakarta Sans"/>
                <a:cs typeface="Plus Jakarta Sans"/>
              </a:rPr>
              <a:t>Every campaign starts from a human truth about the audience, not a product feature.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550" y="5453101"/>
            <a:ext cx="339090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02 · Story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550" y="5709285"/>
            <a:ext cx="3390900" cy="6429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FFFFF">
                    <a:alpha val="85000"/>
                  </a:srgbClr>
                </a:solidFill>
                <a:latin typeface="Plus Jakarta Sans"/>
                <a:ea typeface="Plus Jakarta Sans"/>
                <a:cs typeface="Plus Jakarta Sans"/>
              </a:rPr>
              <a:t>We turn that insight into a named idea with an arc creators can actually tell.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453101"/>
            <a:ext cx="3390900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98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03 · Craft 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709285"/>
            <a:ext cx="3390900" cy="6429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FFFFF">
                    <a:alpha val="85000"/>
                  </a:srgbClr>
                </a:solidFill>
                <a:latin typeface="Plus Jakarta Sans"/>
                <a:ea typeface="Plus Jakarta Sans"/>
                <a:cs typeface="Plus Jakarta Sans"/>
              </a:rPr>
              <a:t>Briefing, production and reporting run on checklists, so the idea survives execution.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effectLst/>
          <a:solidFill>
            <a:srgbClr val="0E1512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0100" y="771525"/>
            <a:ext cx="247650" cy="19050"/>
          </a:xfrm>
          <a:prstGeom prst="rect">
            <a:avLst/>
          </a:prstGeom>
          <a:effectLst/>
          <a:solidFill>
            <a:srgbClr val="DDB66C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62026"/>
            <a:ext cx="990302" cy="33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176">
                <a:solidFill>
                  <a:srgbClr val="DDB66C"/>
                </a:solidFill>
                <a:latin typeface="Space Mono"/>
                <a:ea typeface="Space Mono"/>
                <a:cs typeface="Space Mono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996239"/>
            <a:ext cx="10591800" cy="1120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09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-84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Let's make 5pm the best hour in town.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036415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1936593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Pick the outlets for the launch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338834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2239012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Confirm creator availability + anchor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2641253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2541431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Lock the dusk menu and shoot 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" y="2943671"/>
            <a:ext cx="114300" cy="114300"/>
          </a:xfrm>
          <a:prstGeom prst="roundRect">
            <a:avLst>
              <a:gd name="adj" fmla="val 25000"/>
            </a:avLst>
          </a:prstGeom>
          <a:effectLst/>
          <a:solidFill>
            <a:srgbClr val="C99A45"/>
          </a:solidFill>
          <a:ln>
            <a:noFill/>
          </a:ln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843849"/>
            <a:ext cx="4933950" cy="414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B7D3C4"/>
                </a:solidFill>
                <a:latin typeface="Plus Jakarta Sans"/>
                <a:ea typeface="Plus Jakarta Sans"/>
                <a:cs typeface="Plus Jakarta Sans"/>
              </a:rPr>
              <a:t>Kick off within 7 days of sign-off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1974693"/>
            <a:ext cx="51816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42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Studio Rantai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2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Jl. Contoh Raya No. 1, Jakarta (fictional)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2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IG </a:t>
            </a:r>
            <a:r>
              <a:rPr sz="1050" b="1" i="0" spc="42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@studio.rantai</a:t>
            </a:r>
            <a:r>
              <a:rPr sz="1050" b="0" i="0" spc="42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 · WA +62 800 0000 0000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2">
                <a:solidFill>
                  <a:srgbClr val="B7D3C4"/>
                </a:solidFill>
                <a:latin typeface="Space Mono"/>
                <a:ea typeface="Space Mono"/>
                <a:cs typeface="Space Mono"/>
              </a:rPr>
              <a:t>hello@studio-rantai.example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324600"/>
            <a:ext cx="840284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2259" y="6333058"/>
            <a:ext cx="2070795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@STUDIO.RANTAI · KOPI SENJA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4928" y="6333058"/>
            <a:ext cx="536972" cy="278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99">
                <a:solidFill>
                  <a:srgbClr val="FFFFFF">
                    <a:alpha val="50000"/>
                  </a:srgbClr>
                </a:solidFill>
                <a:latin typeface="Space Mono"/>
                <a:ea typeface="Space Mono"/>
                <a:cs typeface="Space Mon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